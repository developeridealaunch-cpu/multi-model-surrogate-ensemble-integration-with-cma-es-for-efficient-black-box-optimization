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82880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1: Dataset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(COCO BBOB via cocoex API)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76652" y="1048293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Step 2: Sampling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Latin Hypercube Sampling (LHS)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Uniform coverage of search space.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30578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3: Preprocessing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Normalization &amp; Standardization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Inputs scaled to [−1,1], CMA-ES normalized.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76652" y="2787282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4: Feature Extraction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Statistical + VAE + Transformer-based Landscape Encoder (Deep-ELA inspired).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78003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5: Feature Selection &amp; Meta-Learning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CMA-ES-guided correlation, MI/PCA filtering,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Meta-learning (NeurELA) for zero-shot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560019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Step 6: Surrogate Models</a:t>
            </a:r>
          </a:p>
          <a:p>
            <a:pPr algn="ctr"/>
            <a:r>
              <a:rPr sz="1400" b="1" dirty="0" err="1">
                <a:solidFill>
                  <a:srgbClr val="FFFFFF"/>
                </a:solidFill>
              </a:rPr>
              <a:t>RBF</a:t>
            </a:r>
            <a:r>
              <a:rPr sz="1400" b="1" dirty="0">
                <a:solidFill>
                  <a:srgbClr val="FFFFFF"/>
                </a:solidFill>
              </a:rPr>
              <a:t> | GP | </a:t>
            </a:r>
            <a:r>
              <a:rPr sz="1400" b="1" dirty="0" err="1">
                <a:solidFill>
                  <a:srgbClr val="FFFFFF"/>
                </a:solidFill>
              </a:rPr>
              <a:t>SVR</a:t>
            </a:r>
            <a:r>
              <a:rPr sz="1400" b="1" dirty="0">
                <a:solidFill>
                  <a:srgbClr val="FFFFFF"/>
                </a:solidFill>
              </a:rPr>
              <a:t> | Polynomial | </a:t>
            </a:r>
            <a:r>
              <a:rPr sz="1400" b="1" dirty="0" err="1">
                <a:solidFill>
                  <a:srgbClr val="FFFFFF"/>
                </a:solidFill>
              </a:rPr>
              <a:t>BNN</a:t>
            </a:r>
            <a:r>
              <a:rPr sz="1400" b="1" dirty="0">
                <a:solidFill>
                  <a:srgbClr val="FFFFFF"/>
                </a:solidFill>
              </a:rPr>
              <a:t> | </a:t>
            </a:r>
            <a:r>
              <a:rPr sz="1400" b="1" dirty="0" err="1">
                <a:solidFill>
                  <a:srgbClr val="FFFFFF"/>
                </a:solidFill>
              </a:rPr>
              <a:t>DKL</a:t>
            </a:r>
            <a:endParaRPr sz="1400" b="1" dirty="0">
              <a:solidFill>
                <a:srgbClr val="FFFFFF"/>
              </a:solidFill>
            </a:endParaRP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Hybrid surrogate construction.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606" y="5437130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7: Ensemble Strategy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Adaptive stacking &amp; weighting,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Uncertainty-driven exploration.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3406" y="6312884"/>
            <a:ext cx="41148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Step 8: Optimization Loop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CMA-</a:t>
            </a:r>
            <a:r>
              <a:rPr sz="1400" b="1" dirty="0" err="1">
                <a:solidFill>
                  <a:srgbClr val="FFFFFF"/>
                </a:solidFill>
              </a:rPr>
              <a:t>ES</a:t>
            </a:r>
            <a:r>
              <a:rPr sz="1400" b="1" dirty="0">
                <a:solidFill>
                  <a:srgbClr val="FFFFFF"/>
                </a:solidFill>
              </a:rPr>
              <a:t> + Acquisition (EI/</a:t>
            </a:r>
            <a:r>
              <a:rPr sz="1400" b="1" dirty="0" err="1">
                <a:solidFill>
                  <a:srgbClr val="FFFFFF"/>
                </a:solidFill>
              </a:rPr>
              <a:t>UCB</a:t>
            </a:r>
            <a:r>
              <a:rPr sz="1400" b="1" dirty="0">
                <a:solidFill>
                  <a:srgbClr val="FFFFFF"/>
                </a:solidFill>
              </a:rPr>
              <a:t>)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Variants: </a:t>
            </a:r>
            <a:r>
              <a:rPr sz="1400" b="1" dirty="0" err="1">
                <a:solidFill>
                  <a:srgbClr val="FFFFFF"/>
                </a:solidFill>
              </a:rPr>
              <a:t>ESR</a:t>
            </a:r>
            <a:r>
              <a:rPr sz="1400" b="1" dirty="0">
                <a:solidFill>
                  <a:srgbClr val="FFFFFF"/>
                </a:solidFill>
              </a:rPr>
              <a:t>–CMA-</a:t>
            </a:r>
            <a:r>
              <a:rPr sz="1400" b="1" dirty="0" err="1">
                <a:solidFill>
                  <a:srgbClr val="FFFFFF"/>
                </a:solidFill>
              </a:rPr>
              <a:t>ES</a:t>
            </a:r>
            <a:r>
              <a:rPr sz="1400" b="1" dirty="0">
                <a:solidFill>
                  <a:srgbClr val="FFFFFF"/>
                </a:solidFill>
              </a:rPr>
              <a:t>, </a:t>
            </a:r>
            <a:r>
              <a:rPr sz="1400" b="1" dirty="0" err="1">
                <a:solidFill>
                  <a:srgbClr val="FFFFFF"/>
                </a:solidFill>
              </a:rPr>
              <a:t>DAE</a:t>
            </a:r>
            <a:r>
              <a:rPr sz="1400" b="1" dirty="0">
                <a:solidFill>
                  <a:srgbClr val="FFFFFF"/>
                </a:solidFill>
              </a:rPr>
              <a:t>–SMC-CMA, </a:t>
            </a:r>
            <a:r>
              <a:rPr sz="1400" b="1" dirty="0" err="1">
                <a:solidFill>
                  <a:srgbClr val="FFFFFF"/>
                </a:solidFill>
              </a:rPr>
              <a:t>MSES</a:t>
            </a:r>
            <a:r>
              <a:rPr sz="1400" b="1" dirty="0">
                <a:solidFill>
                  <a:srgbClr val="FFFFFF"/>
                </a:solidFill>
              </a:rPr>
              <a:t>–CMA.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606" y="7178844"/>
            <a:ext cx="4114800" cy="1058091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Step 9: Performance Evaluation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Surrogate: Kendall-τ, </a:t>
            </a:r>
            <a:r>
              <a:rPr sz="1400" b="1" dirty="0" err="1">
                <a:solidFill>
                  <a:srgbClr val="FFFFFF"/>
                </a:solidFill>
              </a:rPr>
              <a:t>RDE</a:t>
            </a:r>
            <a:r>
              <a:rPr sz="1400" b="1" dirty="0">
                <a:solidFill>
                  <a:srgbClr val="FFFFFF"/>
                </a:solidFill>
              </a:rPr>
              <a:t>, RMSE, Correlation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Optimization: </a:t>
            </a:r>
            <a:r>
              <a:rPr sz="1400" b="1" dirty="0" err="1">
                <a:solidFill>
                  <a:srgbClr val="FFFFFF"/>
                </a:solidFill>
              </a:rPr>
              <a:t>ERT</a:t>
            </a:r>
            <a:r>
              <a:rPr sz="1400" b="1" dirty="0">
                <a:solidFill>
                  <a:srgbClr val="FFFFFF"/>
                </a:solidFill>
              </a:rPr>
              <a:t>, f(x), Success Rate, COCO Plots</a:t>
            </a: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Baselines: GP–CMA-</a:t>
            </a:r>
            <a:r>
              <a:rPr sz="1400" b="1" dirty="0" err="1">
                <a:solidFill>
                  <a:srgbClr val="FFFFFF"/>
                </a:solidFill>
              </a:rPr>
              <a:t>ES</a:t>
            </a:r>
            <a:r>
              <a:rPr sz="1400" b="1" dirty="0">
                <a:solidFill>
                  <a:srgbClr val="FFFFFF"/>
                </a:solidFill>
              </a:rPr>
              <a:t>, </a:t>
            </a:r>
            <a:r>
              <a:rPr sz="1400" b="1" dirty="0" err="1">
                <a:solidFill>
                  <a:srgbClr val="FFFFFF"/>
                </a:solidFill>
              </a:rPr>
              <a:t>VAE</a:t>
            </a:r>
            <a:r>
              <a:rPr sz="1400" b="1" dirty="0">
                <a:solidFill>
                  <a:srgbClr val="FFFFFF"/>
                </a:solidFill>
              </a:rPr>
              <a:t>–CMA-</a:t>
            </a:r>
            <a:r>
              <a:rPr sz="1400" b="1" dirty="0" err="1">
                <a:solidFill>
                  <a:srgbClr val="FFFFFF"/>
                </a:solidFill>
              </a:rPr>
              <a:t>ES</a:t>
            </a:r>
            <a:r>
              <a:rPr sz="1400" b="1" dirty="0">
                <a:solidFill>
                  <a:srgbClr val="FFFFFF"/>
                </a:solidFill>
              </a:rPr>
              <a:t>, </a:t>
            </a:r>
            <a:r>
              <a:rPr sz="1400" b="1" dirty="0" err="1">
                <a:solidFill>
                  <a:srgbClr val="FFFFFF"/>
                </a:solidFill>
              </a:rPr>
              <a:t>DKL</a:t>
            </a:r>
            <a:r>
              <a:rPr sz="1400" b="1" dirty="0">
                <a:solidFill>
                  <a:srgbClr val="FFFFFF"/>
                </a:solidFill>
              </a:rPr>
              <a:t>–BO, Classical CMA-</a:t>
            </a:r>
            <a:r>
              <a:rPr sz="1400" b="1" dirty="0" err="1">
                <a:solidFill>
                  <a:srgbClr val="FFFFFF"/>
                </a:solidFill>
              </a:rPr>
              <a:t>ES</a:t>
            </a:r>
            <a:r>
              <a:rPr sz="140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" name="Bent Arrow 12"/>
          <p:cNvSpPr/>
          <p:nvPr/>
        </p:nvSpPr>
        <p:spPr>
          <a:xfrm rot="5400000">
            <a:off x="4797879" y="642802"/>
            <a:ext cx="445224" cy="348343"/>
          </a:xfrm>
          <a:prstGeom prst="ben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Bent Arrow 13"/>
          <p:cNvSpPr/>
          <p:nvPr/>
        </p:nvSpPr>
        <p:spPr>
          <a:xfrm rot="10800000">
            <a:off x="4846320" y="1877784"/>
            <a:ext cx="445224" cy="348343"/>
          </a:xfrm>
          <a:prstGeom prst="ben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Bent Arrow 15"/>
          <p:cNvSpPr/>
          <p:nvPr/>
        </p:nvSpPr>
        <p:spPr>
          <a:xfrm rot="10800000">
            <a:off x="4843052" y="3618131"/>
            <a:ext cx="445224" cy="348343"/>
          </a:xfrm>
          <a:prstGeom prst="ben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Bent Arrow 16"/>
          <p:cNvSpPr/>
          <p:nvPr/>
        </p:nvSpPr>
        <p:spPr>
          <a:xfrm rot="10800000">
            <a:off x="4935578" y="5380254"/>
            <a:ext cx="445224" cy="348343"/>
          </a:xfrm>
          <a:prstGeom prst="ben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Bent Arrow 17"/>
          <p:cNvSpPr/>
          <p:nvPr/>
        </p:nvSpPr>
        <p:spPr>
          <a:xfrm rot="10800000">
            <a:off x="4933406" y="7135844"/>
            <a:ext cx="445224" cy="348343"/>
          </a:xfrm>
          <a:prstGeom prst="ben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Bent-Up Arrow 19"/>
          <p:cNvSpPr/>
          <p:nvPr/>
        </p:nvSpPr>
        <p:spPr>
          <a:xfrm rot="5400000">
            <a:off x="4402183" y="2824294"/>
            <a:ext cx="426720" cy="322217"/>
          </a:xfrm>
          <a:prstGeom prst="bentUp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Bent-Up Arrow 21"/>
          <p:cNvSpPr/>
          <p:nvPr/>
        </p:nvSpPr>
        <p:spPr>
          <a:xfrm rot="5400000">
            <a:off x="4471851" y="4540425"/>
            <a:ext cx="426720" cy="322217"/>
          </a:xfrm>
          <a:prstGeom prst="bentUp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Bent-Up Arrow 18"/>
          <p:cNvSpPr/>
          <p:nvPr/>
        </p:nvSpPr>
        <p:spPr>
          <a:xfrm rot="5400000">
            <a:off x="4567645" y="6316424"/>
            <a:ext cx="426720" cy="322217"/>
          </a:xfrm>
          <a:prstGeom prst="bentUp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169</Words>
  <Application>Microsoft Office PowerPoint</Application>
  <PresentationFormat>On-screen Show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7</cp:revision>
  <dcterms:created xsi:type="dcterms:W3CDTF">2013-01-27T09:14:16Z</dcterms:created>
  <dcterms:modified xsi:type="dcterms:W3CDTF">2025-10-29T12:06:48Z</dcterms:modified>
  <cp:category/>
</cp:coreProperties>
</file>